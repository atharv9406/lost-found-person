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65" r:id="rId13"/>
    <p:sldId id="273" r:id="rId14"/>
    <p:sldId id="274" r:id="rId15"/>
    <p:sldId id="268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/>
    <p:restoredTop sz="94635"/>
  </p:normalViewPr>
  <p:slideViewPr>
    <p:cSldViewPr snapToGrid="0">
      <p:cViewPr varScale="1">
        <p:scale>
          <a:sx n="120" d="100"/>
          <a:sy n="120" d="100"/>
        </p:scale>
        <p:origin x="8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04/11/25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04/11/25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04/11/25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04/11/25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04/11/25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04/11/25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harv9406/Lost-Found-Person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221" y="1133061"/>
            <a:ext cx="8915399" cy="251155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Person &amp; Lost Item Tracker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453" y="3747052"/>
            <a:ext cx="9079464" cy="2090163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Guided By:</a:t>
            </a: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								 </a:t>
            </a: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Presented By: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Prof. (Dr.) Nitin Kulkarni							       			        	 Atharv Sharma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								 		 Khushi Agrawal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								 		 Harshita </a:t>
            </a:r>
            <a:r>
              <a:rPr kumimoji="0" lang="en-IN" sz="1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Sultanpura</a:t>
            </a: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IN" sz="1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						   	        			 Dali Vaishnav	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8"/>
            <a:ext cx="8915400" cy="5466523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1.1</a:t>
            </a:r>
            <a:r>
              <a:rPr lang="en-IN" dirty="0"/>
              <a:t> Overview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1.2</a:t>
            </a:r>
            <a:r>
              <a:rPr lang="en-IN" dirty="0"/>
              <a:t>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Requirement Engineering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2.1</a:t>
            </a:r>
            <a:r>
              <a:rPr lang="en-IN" dirty="0"/>
              <a:t> Requirement Collection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2.2</a:t>
            </a:r>
            <a:r>
              <a:rPr lang="en-IN" dirty="0"/>
              <a:t> Functional Requirements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2.3</a:t>
            </a:r>
            <a:r>
              <a:rPr lang="en-IN" dirty="0"/>
              <a:t> Non Functional Requirements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2.4</a:t>
            </a:r>
            <a:r>
              <a:rPr lang="en-IN" dirty="0"/>
              <a:t> Use Case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Technical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3.1</a:t>
            </a:r>
            <a:r>
              <a:rPr lang="en-IN" dirty="0"/>
              <a:t> Technical Architecture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3.2</a:t>
            </a:r>
            <a:r>
              <a:rPr lang="en-IN" dirty="0"/>
              <a:t> Sequence Diagram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3.3</a:t>
            </a:r>
            <a:r>
              <a:rPr lang="en-IN" dirty="0"/>
              <a:t> Class Diagram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3.4</a:t>
            </a:r>
            <a:r>
              <a:rPr lang="en-IN" dirty="0"/>
              <a:t> DFD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User Interface Design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Data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5.1</a:t>
            </a:r>
            <a:r>
              <a:rPr lang="en-IN" dirty="0"/>
              <a:t> Schema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5.2</a:t>
            </a:r>
            <a:r>
              <a:rPr lang="en-IN" dirty="0"/>
              <a:t> E-R Diagram</a:t>
            </a:r>
          </a:p>
          <a:p>
            <a:pPr marL="0" indent="0">
              <a:buNone/>
            </a:pPr>
            <a:r>
              <a:rPr lang="en-IN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 fontScale="92500" lnSpcReduction="10000"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1.1 Overview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 AI-powered digital platform designed to help locate missing persons and recover lost belongings.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Bridges the gap between the public, law-enforcement agencies, and reporting individuals through a single, centralized system.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Uses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facial recognition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 detection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and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geolocation services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to match new reports with existing data in real time.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Provides a secure, user-friendly interface for reporting, searching, and tracking incidents.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1.2 Purpose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Centralized Reporting: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Offer one reliable platform for quick submission of missing-person or lost-item cases.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Real-Time Alerts: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Send instant notifications and location updates to nearby users and authorities, ensuring faster action.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Community Participation: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Encourage the public to assist by sharing sightings and matching reports, strengthening civic safety.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2. Requirement Engineering</a:t>
            </a:r>
            <a:br>
              <a:rPr lang="en-IN" dirty="0"/>
            </a:br>
            <a:r>
              <a:rPr lang="en-IN" dirty="0"/>
              <a:t>	2.1 Requirement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870612"/>
            <a:ext cx="8915400" cy="436327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Conducted </a:t>
            </a:r>
            <a:r>
              <a:rPr lang="en-IN" b="1" dirty="0"/>
              <a:t>surveys and interviews</a:t>
            </a:r>
            <a:r>
              <a:rPr lang="en-IN" dirty="0"/>
              <a:t> with police officers, NGO workers, and general public to understand real-world challenges in missing person and lost item tracking.</a:t>
            </a:r>
          </a:p>
          <a:p>
            <a:r>
              <a:rPr lang="en-IN" dirty="0"/>
              <a:t>Collected </a:t>
            </a:r>
            <a:r>
              <a:rPr lang="en-IN" b="1" dirty="0"/>
              <a:t>functional and non-functional requirements</a:t>
            </a:r>
            <a:r>
              <a:rPr lang="en-IN" dirty="0"/>
              <a:t> through </a:t>
            </a:r>
            <a:r>
              <a:rPr lang="en-IN" b="1" dirty="0"/>
              <a:t>questionnaires</a:t>
            </a:r>
            <a:r>
              <a:rPr lang="en-IN" dirty="0"/>
              <a:t> focusing on user expectations and system usability.</a:t>
            </a:r>
          </a:p>
          <a:p>
            <a:r>
              <a:rPr lang="en-IN" dirty="0" err="1"/>
              <a:t>Analyzed</a:t>
            </a:r>
            <a:r>
              <a:rPr lang="en-IN" dirty="0"/>
              <a:t> </a:t>
            </a:r>
            <a:r>
              <a:rPr lang="en-IN" b="1" dirty="0"/>
              <a:t>existing systems</a:t>
            </a:r>
            <a:r>
              <a:rPr lang="en-IN" dirty="0"/>
              <a:t> such as government missing-person portals, social media reports, and community apps to identify gaps and pain points.</a:t>
            </a:r>
          </a:p>
          <a:p>
            <a:r>
              <a:rPr lang="en-IN" dirty="0"/>
              <a:t>Gathered </a:t>
            </a:r>
            <a:r>
              <a:rPr lang="en-IN" b="1" dirty="0"/>
              <a:t>technical requirements</a:t>
            </a:r>
            <a:r>
              <a:rPr lang="en-IN" dirty="0"/>
              <a:t> by consulting developers and AI experts to determine suitable technologies like </a:t>
            </a:r>
            <a:r>
              <a:rPr lang="en-IN" b="1" dirty="0"/>
              <a:t>facial recognition</a:t>
            </a:r>
            <a:r>
              <a:rPr lang="en-IN" dirty="0"/>
              <a:t>, </a:t>
            </a:r>
            <a:r>
              <a:rPr lang="en-IN" b="1" dirty="0"/>
              <a:t>object detection</a:t>
            </a:r>
            <a:r>
              <a:rPr lang="en-IN" dirty="0"/>
              <a:t>, and </a:t>
            </a:r>
            <a:r>
              <a:rPr lang="en-IN" b="1" dirty="0"/>
              <a:t>geolocation services</a:t>
            </a:r>
            <a:r>
              <a:rPr lang="en-IN" dirty="0"/>
              <a:t>.</a:t>
            </a:r>
          </a:p>
          <a:p>
            <a:r>
              <a:rPr lang="en-IN" dirty="0"/>
              <a:t>Documented findings in a </a:t>
            </a:r>
            <a:r>
              <a:rPr lang="en-IN" b="1" dirty="0"/>
              <a:t>Software Requirement Specification (SRS)</a:t>
            </a:r>
            <a:r>
              <a:rPr lang="en-IN" dirty="0"/>
              <a:t> for validation by team members and project guide.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6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2.2 Function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User Registration &amp; Authentication: </a:t>
            </a:r>
            <a:r>
              <a:rPr lang="en-IN" dirty="0"/>
              <a:t>Users can create accounts, log in securely, and manage their profiles.</a:t>
            </a:r>
          </a:p>
          <a:p>
            <a:r>
              <a:rPr lang="en-IN" b="1" dirty="0"/>
              <a:t>Report Submission: </a:t>
            </a:r>
            <a:r>
              <a:rPr lang="en-IN" dirty="0"/>
              <a:t>Allows users to register missing persons or lost items by uploading images, descriptions, and last-known locations.</a:t>
            </a:r>
          </a:p>
          <a:p>
            <a:r>
              <a:rPr lang="en-IN" b="1" dirty="0"/>
              <a:t>AI-Based Matching: </a:t>
            </a:r>
            <a:r>
              <a:rPr lang="en-IN" dirty="0"/>
              <a:t>System automatically compares uploaded images using </a:t>
            </a:r>
            <a:r>
              <a:rPr lang="en-IN" b="1" dirty="0"/>
              <a:t>facial recognition</a:t>
            </a:r>
            <a:r>
              <a:rPr lang="en-IN" dirty="0"/>
              <a:t> (for persons) and </a:t>
            </a:r>
            <a:r>
              <a:rPr lang="en-IN" b="1" dirty="0"/>
              <a:t>object detection</a:t>
            </a:r>
            <a:r>
              <a:rPr lang="en-IN" dirty="0"/>
              <a:t> (for items) to find potential matches.</a:t>
            </a:r>
          </a:p>
          <a:p>
            <a:r>
              <a:rPr lang="en-IN" b="1" dirty="0"/>
              <a:t>Real-Time Alerts: </a:t>
            </a:r>
            <a:r>
              <a:rPr lang="en-IN" dirty="0"/>
              <a:t>Sends instant notifications via </a:t>
            </a:r>
            <a:r>
              <a:rPr lang="en-IN" b="1" dirty="0"/>
              <a:t>Firebase</a:t>
            </a:r>
            <a:r>
              <a:rPr lang="en-IN" dirty="0"/>
              <a:t> or </a:t>
            </a:r>
            <a:r>
              <a:rPr lang="en-IN" b="1" dirty="0"/>
              <a:t>Twilio</a:t>
            </a:r>
            <a:r>
              <a:rPr lang="en-IN" dirty="0"/>
              <a:t> to nearby users and authorities when a probable match is found.</a:t>
            </a:r>
          </a:p>
          <a:p>
            <a:r>
              <a:rPr lang="en-IN" b="1" dirty="0"/>
              <a:t>Search &amp; Filter: </a:t>
            </a:r>
            <a:r>
              <a:rPr lang="en-IN" dirty="0"/>
              <a:t>Users can search existing reports using keywords, category, or location filters.</a:t>
            </a:r>
          </a:p>
          <a:p>
            <a:r>
              <a:rPr lang="en-IN" b="1" dirty="0"/>
              <a:t>Admin Dashboard: </a:t>
            </a:r>
            <a:r>
              <a:rPr lang="en-IN" dirty="0"/>
              <a:t>Admins and authorized personnel (like police or NGOs) can verify reports, update case statuses, and close resolved cases.</a:t>
            </a:r>
          </a:p>
          <a:p>
            <a:r>
              <a:rPr lang="en-IN" b="1" dirty="0"/>
              <a:t>Location Tracking: </a:t>
            </a:r>
            <a:r>
              <a:rPr lang="en-IN" dirty="0"/>
              <a:t>Integrates with </a:t>
            </a:r>
            <a:r>
              <a:rPr lang="en-IN" b="1" dirty="0"/>
              <a:t>Google Maps API</a:t>
            </a:r>
            <a:r>
              <a:rPr lang="en-IN" dirty="0"/>
              <a:t> to visualize last-seen locations and possible matches on a map interface.</a:t>
            </a:r>
          </a:p>
          <a:p>
            <a:r>
              <a:rPr lang="en-IN" b="1" dirty="0"/>
              <a:t>Community Reporting: </a:t>
            </a:r>
            <a:r>
              <a:rPr lang="en-IN" dirty="0"/>
              <a:t>Enables the public to submit sightings or related information to assist in ongoing cases.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2.2 Non Functional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Performance: </a:t>
            </a:r>
            <a:r>
              <a:rPr lang="en-IN" dirty="0"/>
              <a:t>The system should process image comparisons and send alerts within </a:t>
            </a:r>
            <a:r>
              <a:rPr lang="en-IN" b="1" dirty="0"/>
              <a:t>3–5 seconds</a:t>
            </a:r>
            <a:r>
              <a:rPr lang="en-IN" dirty="0"/>
              <a:t> to ensure timely responses.</a:t>
            </a:r>
          </a:p>
          <a:p>
            <a:r>
              <a:rPr lang="en-IN" b="1" dirty="0"/>
              <a:t>Scalability: </a:t>
            </a:r>
            <a:r>
              <a:rPr lang="en-IN" dirty="0"/>
              <a:t>Must handle increasing user traffic and large datasets efficiently across cities or institutions.</a:t>
            </a:r>
          </a:p>
          <a:p>
            <a:r>
              <a:rPr lang="en-IN" b="1" dirty="0"/>
              <a:t>Security: </a:t>
            </a:r>
            <a:r>
              <a:rPr lang="en-IN" dirty="0"/>
              <a:t>All user data, images, and locations should be </a:t>
            </a:r>
            <a:r>
              <a:rPr lang="en-IN" b="1" dirty="0"/>
              <a:t>encrypted</a:t>
            </a:r>
            <a:r>
              <a:rPr lang="en-IN" dirty="0"/>
              <a:t> using SSL/TLS to protect privacy and prevent unauthorized access.</a:t>
            </a:r>
          </a:p>
          <a:p>
            <a:r>
              <a:rPr lang="en-IN" b="1" dirty="0"/>
              <a:t>Reliability: </a:t>
            </a:r>
            <a:r>
              <a:rPr lang="en-IN" dirty="0"/>
              <a:t>The platform should maintain </a:t>
            </a:r>
            <a:r>
              <a:rPr lang="en-IN" b="1" dirty="0"/>
              <a:t>99% uptime</a:t>
            </a:r>
            <a:r>
              <a:rPr lang="en-IN" dirty="0"/>
              <a:t> with proper error handling and data backup mechanisms using </a:t>
            </a:r>
            <a:r>
              <a:rPr lang="en-IN" b="1" dirty="0"/>
              <a:t>Firebase Cloud Storage</a:t>
            </a:r>
            <a:r>
              <a:rPr lang="en-IN" dirty="0"/>
              <a:t>.</a:t>
            </a:r>
          </a:p>
          <a:p>
            <a:r>
              <a:rPr lang="en-IN" b="1" dirty="0"/>
              <a:t>Usability: </a:t>
            </a:r>
            <a:r>
              <a:rPr lang="en-IN" dirty="0"/>
              <a:t>The interface should be </a:t>
            </a:r>
            <a:r>
              <a:rPr lang="en-IN" b="1" dirty="0"/>
              <a:t>intuitive, user-friendly</a:t>
            </a:r>
            <a:r>
              <a:rPr lang="en-IN" dirty="0"/>
              <a:t>, and accessible to non-technical users on both web and mobile devices.</a:t>
            </a:r>
          </a:p>
          <a:p>
            <a:r>
              <a:rPr lang="en-IN" b="1" dirty="0"/>
              <a:t>Maintainability: </a:t>
            </a:r>
            <a:r>
              <a:rPr lang="en-IN" dirty="0"/>
              <a:t>The modular design using </a:t>
            </a:r>
            <a:r>
              <a:rPr lang="en-IN" b="1" dirty="0"/>
              <a:t>Spring Boot</a:t>
            </a:r>
            <a:r>
              <a:rPr lang="en-IN" dirty="0"/>
              <a:t> and </a:t>
            </a:r>
            <a:r>
              <a:rPr lang="en-IN" b="1" dirty="0"/>
              <a:t>ReactJS</a:t>
            </a:r>
            <a:r>
              <a:rPr lang="en-IN" dirty="0"/>
              <a:t> ensures easy maintenance, updates, and feature scalability.</a:t>
            </a:r>
          </a:p>
          <a:p>
            <a:r>
              <a:rPr lang="en-IN" b="1" dirty="0"/>
              <a:t>Compatibility: </a:t>
            </a:r>
            <a:r>
              <a:rPr lang="en-IN" dirty="0"/>
              <a:t>Compatible with major browsers and operating systems (Windows, macOS, Android, iOS).</a:t>
            </a:r>
          </a:p>
          <a:p>
            <a:r>
              <a:rPr lang="en-IN" b="1" dirty="0"/>
              <a:t>Accuracy: </a:t>
            </a:r>
            <a:r>
              <a:rPr lang="en-IN" dirty="0"/>
              <a:t>AI models (Facial Recognition and Object Detection) should achieve </a:t>
            </a:r>
            <a:r>
              <a:rPr lang="en-IN" b="1" dirty="0"/>
              <a:t>at least 90% accuracy</a:t>
            </a:r>
            <a:r>
              <a:rPr lang="en-IN" dirty="0"/>
              <a:t> for reliable matching results.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2.3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Use Case Diagram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ECF9910E-D24B-D18A-6B20-B2228B9330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600" y="2222500"/>
            <a:ext cx="7861300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3. Technical Design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>
                <a:solidFill>
                  <a:schemeClr val="tx1"/>
                </a:solidFill>
              </a:rPr>
              <a:t>3.1</a:t>
            </a:r>
            <a:r>
              <a:rPr lang="en-IN" dirty="0"/>
              <a:t> 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Architecture Diagram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6" name="Picture 5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5FF57FB-BF9D-6F7A-A5CE-5DE96441F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454" y="2216225"/>
            <a:ext cx="7776916" cy="37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E8171-3C93-3951-64B3-73BCBD9C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9705-08D0-11A7-6890-F6B46FB1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3.2</a:t>
            </a:r>
            <a:r>
              <a:rPr lang="en-IN" dirty="0"/>
              <a:t> Sequence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41C6D-2550-10EB-307E-7A3325468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Sequence Diagram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A5758-5323-C7B4-8A6F-91E3A4C3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6" name="Picture 5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60BDBD6E-B7D0-A196-862E-47E002689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712" y="2208228"/>
            <a:ext cx="7772400" cy="379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2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5D6A-F7D1-6412-26B3-02B46141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C94F-6893-A33B-F5CF-63D0B67E2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3.3</a:t>
            </a:r>
            <a:r>
              <a:rPr lang="en-IN" dirty="0"/>
              <a:t> 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E688-A8B7-5E5C-DF65-BD1B8E12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Class Diagram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55AB3-9666-3FFB-D6B6-F32094E9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  <p:pic>
        <p:nvPicPr>
          <p:cNvPr id="8" name="Picture 7" descr="A diagram of a data flow&#10;&#10;AI-generated content may be incorrect.">
            <a:extLst>
              <a:ext uri="{FF2B5EF4-FFF2-40B4-BE49-F238E27FC236}">
                <a16:creationId xmlns:a16="http://schemas.microsoft.com/office/drawing/2014/main" id="{3B369B57-3A9E-236B-C157-EF891541E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700" y="2092847"/>
            <a:ext cx="7772400" cy="391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2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50E2-726A-D8A0-14A3-FA115C9A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000C-B2B2-2070-C829-0ECA1055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3.4</a:t>
            </a:r>
            <a:r>
              <a:rPr lang="en-IN" dirty="0"/>
              <a:t> DFD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ED492-CC1E-860E-2EFD-CE70F63B2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DFD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8091-2D23-B207-FD6C-0B5E9DC2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6" name="Picture 5" descr="A diagram of a data flow&#10;&#10;AI-generated content may be incorrect.">
            <a:extLst>
              <a:ext uri="{FF2B5EF4-FFF2-40B4-BE49-F238E27FC236}">
                <a16:creationId xmlns:a16="http://schemas.microsoft.com/office/drawing/2014/main" id="{205665C5-C7E6-CB11-DDB9-37CAB8566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232" y="2082800"/>
            <a:ext cx="8209360" cy="415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80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 User Inface Design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(</a:t>
            </a:r>
            <a:r>
              <a:rPr lang="en-IN" b="1" dirty="0"/>
              <a:t>Note: </a:t>
            </a:r>
            <a:r>
              <a:rPr lang="en-IN" dirty="0"/>
              <a:t>Need to show the Working UI during the presentation and Attach Screen Shots of working UI here)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22852-63C4-7A34-B212-654773ED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C5C4-78A9-C6ED-6882-CC0E8210A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 Data Design</a:t>
            </a:r>
            <a:br>
              <a:rPr lang="en-IN" dirty="0"/>
            </a:br>
            <a:r>
              <a:rPr lang="en-IN" dirty="0"/>
              <a:t>	4.1 Schema Definition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F75AC-B592-49CF-C33A-EDF8D56BB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Complete Database Design.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6B82A-42E5-0552-2F10-B51BDFAC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6" name="Picture 5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F7310AF3-34A5-0339-953D-3AA22E070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01" y="2197100"/>
            <a:ext cx="7556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5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C023-2964-6149-6EB0-77AE30C2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E875-0BD5-0960-C462-C44DE8AB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4.2 E-R Diagram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4FAB1-8619-EA65-D52B-6696C7DD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System E-R Diagram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9194-0758-86E1-5DFC-F8CCA77C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6" name="Picture 5" descr="A diagram of a program&#10;&#10;AI-generated content may be incorrect.">
            <a:extLst>
              <a:ext uri="{FF2B5EF4-FFF2-40B4-BE49-F238E27FC236}">
                <a16:creationId xmlns:a16="http://schemas.microsoft.com/office/drawing/2014/main" id="{3023543B-82A2-357B-966F-D0DE44E2B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640" y="2184400"/>
            <a:ext cx="7770060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81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algn="just"/>
            <a:r>
              <a:rPr lang="en-IN" dirty="0">
                <a:solidFill>
                  <a:schemeClr val="tx1"/>
                </a:solidFill>
                <a:hlinkClick r:id="rId2"/>
              </a:rPr>
              <a:t>https://github.com/Atharv9406/Lost-Found-Person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dirty="0"/>
              <a:t>Write the references used in the study(in given format only).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5038-74F4-BFA9-7BB7-A3BBAFBCF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8E571-788C-E54B-B080-EEB4F50A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5057618" y="296733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05D59-04E2-F173-8396-FFBCDFE0262A}"/>
              </a:ext>
            </a:extLst>
          </p:cNvPr>
          <p:cNvSpPr/>
          <p:nvPr/>
        </p:nvSpPr>
        <p:spPr>
          <a:xfrm>
            <a:off x="5310893" y="4262735"/>
            <a:ext cx="2820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Queries ?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171</TotalTime>
  <Words>895</Words>
  <Application>Microsoft Macintosh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Times New Roman</vt:lpstr>
      <vt:lpstr>Wingdings 3</vt:lpstr>
      <vt:lpstr>Wisp</vt:lpstr>
      <vt:lpstr>          Presentation on  Missing Person &amp; Lost Item Tracker  </vt:lpstr>
      <vt:lpstr>Contents</vt:lpstr>
      <vt:lpstr>1. Introduction</vt:lpstr>
      <vt:lpstr>2. Requirement Engineering  2.1 Requirement Collection</vt:lpstr>
      <vt:lpstr>2.2 Function Requirements</vt:lpstr>
      <vt:lpstr>2.2 Non Functional Requirements </vt:lpstr>
      <vt:lpstr>2.3 Use Case Diagram</vt:lpstr>
      <vt:lpstr>3. Technical Design  3.1 Technical Architecture</vt:lpstr>
      <vt:lpstr>3.2 Sequence Diagram</vt:lpstr>
      <vt:lpstr>3.3 Class Diagram</vt:lpstr>
      <vt:lpstr>3.4 DFD</vt:lpstr>
      <vt:lpstr>4. User Inface Design </vt:lpstr>
      <vt:lpstr>4. Data Design  4.1 Schema Definition </vt:lpstr>
      <vt:lpstr>4.2 E-R Diagram </vt:lpstr>
      <vt:lpstr>GitHub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Atharv  Sharma</cp:lastModifiedBy>
  <cp:revision>13</cp:revision>
  <dcterms:created xsi:type="dcterms:W3CDTF">2024-09-26T07:25:32Z</dcterms:created>
  <dcterms:modified xsi:type="dcterms:W3CDTF">2025-11-04T07:49:55Z</dcterms:modified>
</cp:coreProperties>
</file>